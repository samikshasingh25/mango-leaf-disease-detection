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80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70" r:id="rId19"/>
    <p:sldId id="271" r:id="rId20"/>
    <p:sldId id="272" r:id="rId2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800" b="1" dirty="0">
                <a:latin typeface="Times New Roman"/>
                <a:cs typeface="Times New Roman"/>
              </a:rPr>
              <a:t>Research Project Presentation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Times New Roman"/>
                <a:cs typeface="Times New Roman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b="1" dirty="0">
                <a:latin typeface="Times New Roman"/>
                <a:cs typeface="Times New Roman"/>
              </a:rPr>
              <a:t>Performance Evaluation of CNN and MobileNetV2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lang="en-US" sz="3200" b="1" dirty="0">
                <a:latin typeface="Times New Roman"/>
                <a:cs typeface="Times New Roman"/>
              </a:rPr>
              <a:t>for Mango Leaf Disease Classification</a:t>
            </a: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lang="en-US" sz="2000" dirty="0">
                <a:latin typeface="Times New Roman"/>
                <a:cs typeface="Times New Roman"/>
              </a:rPr>
              <a:t>Submitted by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n-US" sz="2200" b="1" dirty="0">
                <a:latin typeface="Times New Roman"/>
                <a:cs typeface="Times New Roman"/>
              </a:rPr>
              <a:t>Samiksha Singh • Kavya Arora • Pranya • Ankita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/>
                <a:cs typeface="Times New Roman"/>
              </a:rPr>
              <a:t>Chitkara University Institute of Engineering and Technology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/>
                <a:cs typeface="Times New Roman"/>
              </a:rPr>
              <a:t>Chitkara University, Rajpura, Punjab,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Abstract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Mango leaf diseases significantly threaten crop yield and quality, making early automated detection critical for farmers.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Two deep learning approaches evaluated on a dataset of 40,000 images across 8 disease categories.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Diseases: Anthracnose, Bacterial Canker, Cutting Weevil, Die Back, Gall Midge, Healthy, Powdery Mildew, Sooty Mould.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Approach 1: Custom CNN — built from scratch using convolutional layers.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Approach 2: MobileNetV2 — transfer learning from ImageNet pretrained model.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Data augmentation applied: random flips, rotations, zoom, contrast adjustments.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Results: MobileNetV2 achieved 99.4% accuracy; Custom CNN achieved ~97% accuracy.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MobileNetV2 is lightweight, fast, and deployable on mobile devices — ideal for real-world farming applications.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Keywords: CNN, MobileNetV2, Computer Vision, Machine Learning, Deep Learning, Disease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Mango is one of the most economically significant fruits cultivated worldwide — a major livelihood source for farmers.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Mango trees are highly susceptible to various leaf diseases that damage foliage and reduce fruit production.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Traditional diagnosis methods rely on manual leaf inspection or expert consultation — time-consuming and error-prone.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Misdiagnosis leads to incorrect treatments, wasted resources, and further crop damage.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Not every farmer has access to agricultural experts, especially in rural areas.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Artificial Intelligence (AI) and Computer Vision offer an automated alternative for disease detection.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CNNs (Convolutional Neural Networks) can analyze leaf images and identify disease patterns automatically.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MobileNetV2 offers lightweight, phone-compatible inference suitable for field deployment.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Goal: Build an accurate, easy-to-use tool for early mango leaf disease detection to protect farmer harvests.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Literature Review — Prior Work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MobileNetV2 for Mango Leaf Classification: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Achieved high accuracy with low computation cost; validated for real-time agricultural applications.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Hybrid CNN Architectures: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Combining MobileNetV2 + DenseNet201 achieved 99.25% classification accuracy on mango leaf diseases.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MobileNetV2 + LSTM hybrid effectively captured both spatial and sequential disease patterns.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Vision Transformers (ViT):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Hybrid CNN + ViT models (e.g., MobilePlantViT) improved accuracy by combining convolutional and attention-based learning.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Machine Learning Baselines: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SVM-based segmentation achieved 95.5%; CNN models achieved up to 99.35% classification accuracy.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Faster R-CNN, SSD, and VGG16 showed &gt;94% accuracy for complex multi-disease scenarios.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Literature Review — Recent Advances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ResNet50, EfficientNetB0, VGG16 — range of 97% to 99.33% accuracy in mango disease detection.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FrCNNet (CNN-based) — 99.2% accuracy in detecting and segmenting disease-affected areas.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ConvNeXt and CNN + Random Forest — up to 99% in disease detection and severity prediction.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Multimodal Systems: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Combining image data with sensor inputs achieves ~90% accuracy for real-world crop monitoring.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Dual-modality fusion (leaf + fruit images) with dynamic attention-based ensemble improves classification.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Key Observations from Literature: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Hybrid, lightweight, and multimodal models consistently outperform single-architecture approaches.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Transfer learning significantly reduces training cost while maintaining high accuracy.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These findings motivate our comparative evaluation of Custom CNN vs. MobileNetV2.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Our Contributions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Research Question: Is it better to train a mango disease classifier from scratch or use a pretrained model?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Contribution 1: Custom CNN Design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Designed and trained a custom CNN from scratch to classify 8 mango leaf disease categories.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Demonstrates how well a tailored model learns without any prior visual knowledge.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Contribution 2: MobileNetV2 Fine-Tuning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Fine-tuned MobileNetV2 using transfer learning — leveraging ImageNet pretrained features.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Shows how existing knowledge accelerates learning on a specialized agricultural task.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Contribution 3: Comprehensive Performance Comparison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Evaluated both models on accuracy, precision, recall, F1-score, learning curves, and computational efficiency.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Provides a complete picture of strengths, weaknesses, and practical suitability.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Proposed Methodology — Dataset Description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Dataset: 40,000 mango leaf images organized into 8 disease categories.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Disease Classes: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Anthracnose, Bacterial Canker, Cutting Weevil, Die Back, Gall Midge, Healthy, Powdery Mildew, Sooty Mould.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Pre-labeled folders by disease name — no manual re-labeling required.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Data Split — 80/20 strategy: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80% (32,000 images) for training the models.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20% (8,000 images) for validation and final testing — split equally between the two.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This split mirrors real-world conditions where a farmer uploads a new, unseen leaf image for diagnosis.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Standard ML practice: prevents data leakage and ensures objective performance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Data Preprocessing &amp; Augmentation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Image Resizing: All images resized to 224x224 pixels — required input dimension for both architectures.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Batch Processing: Images fed in batches of 32 for memory efficiency and training stability.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Data Augmentation Techniques Applied: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Random horizontal flips — simulates mirrored leaf orientations.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Slight rotations — accounts for different angles of leaf photos.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Random zoom and contrast adjustments — handles varying lighting and camera distances.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Purpose of Augmentation: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Prevents the model from memorizing textbook-perfect images.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Forces the model to focus on disease features rather than image-specific artifacts.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Improves generalization to real-world, imperfect field photographs.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Pipeline optimized so the next image batch is always pre-loaded before the model finishes the current batch.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MobileNetV2-Based Model Architecture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Base: MobileNetV2 pretrained on ImageNet (~1M images) — already learned edges, textures, and shapes.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Architecture Modifications: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Original classification head (ImageNet categories) removed.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Lower feature extraction layers frozen — preserving learned visual patterns.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Custom Head Added: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Global Average Pooling layer — compresses feature maps into compact summaries.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Dropout layer (20%) — randomly disables connections to prevent overfitting.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Dense layer with Softmax (8 outputs) — predicts probability for each disease class.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Training Configuration: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Input: 224x224x3 pixel images | Optimizer: Adam (lr = 0.001) | Loss: Sparse Categorical Crossentropy.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Trained for 30 epochs with early stopping monitoring for improvements.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Custom CNN Model Architecture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Built entirely from scratch — no pretrained weights used; learns exclusively from the 40,000 mango images.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Three Convolutional Layers: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Layer 1 (32 filters) — detects basic features: colors, edges.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Layer 2 (64 filters) — identifies shapes and textures.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Layer 3 (128 filters) — recognizes disease-specific complex patterns.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Max Pooling after each layer — shrinks spatial dimensions while retaining key information.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Fully Connected Layers: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Flatten layer — converts 2D feature maps into a 1D vector.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Dense layer (256 neurons) — integrates all learned features for final classification.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Dropout (50%) — high dropout rate essential since model trains from scratch to prevent memorization.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Softmax output — probability scores for all 8 disease classes.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Same optimizer, learning rate, and loss function as MobileNetV2 for fair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Training Configuration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Both models trained under identical hyperparameters to ensure a fair comparison.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Common Settings: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Optimizer: Adam with learning rate = 0.001 — ensures steady, stable learning.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Loss Function: Sparse Categorical Crossentropy — suitable for multi-class classification.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Batch Size: 32 — balances memory usage and training speed.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Epochs: 30 — increased from initial 10 after observing continued accuracy improvements.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Input Dimensions: 224x224x3 for both models.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Key Difference: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MobileNetV2 started with pretrained ImageNet features — higher initial accuracy.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Custom CNN started from random weights — began at ~47% accuracy, gradually improved.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Training and validation accuracy/loss tracked throughout to monitor learning and detect overfitting.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Results — MobileNetV2 Performance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Test Accuracy: 99.4% — outstanding performance across all 8 disease categories.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Precision, Recall, F1-Scores: All metrics near 1.0 for most disease classes.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F1-Score above 0.98 for nearly all categories — indicates balanced precision and recall.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High precision: minimal false positives; High recall: very few missed detections.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Best Performing Classes: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Anthracnose and Healthy Leaves — near-perfect classification due to visually distinctive features.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Minor Challenges: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Sooty Mould and Bacterial Canker — slight confusion due to visual similarity between diseases.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Learning Curves: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Training and validation accuracy both converged smoothly — no signs of overfitting.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Transfer learning provided high-quality feature representations from the start.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Results — Custom CNN Performance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Test Accuracy: ~97% after 30 training epochs — strong result for a model built from scratch.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Training Progression: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Started at ~47% accuracy in early epochs — model learning from zero.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Steadily improved to ~97% by epoch 30 — effective feature learning observed.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Precision: High — minimal false positives across most disease categories.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Recall: Above 0.96 for most classes — strong disease detection capability.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F1-Scores: Above 0.95 for the majority of disease classes.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Challenges: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Slight overfitting observed towards the end of training — mitigated by 50% dropout.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Sooty Mould and Bacterial Canker again showed minor confusion — expected due to visual similarity.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Longer training could potentially push accuracy further; demonstrates deep learning capability even with limited pretrained knowledge.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Comparative Analysis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Test Accuracy: MobileNetV2 = 99.4% vs. Custom CNN = 97% — MobileNetV2 wins.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Initial Accuracy: MobileNetV2 starts high (transfer learning); Custom CNN starts at ~47%.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Training Speed: MobileNetV2 faster — pretrained features reduce computation.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Parameter Efficiency: MobileNetV2 fewer trainable parameters; Custom CNN more.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Computational Resources: MobileNetV2 lower requirements — ideal for mobile deployment.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Overfitting: MobileNetV2 lower tendency; Custom CNN required stronger dropout (50%).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Disease Classification: Both excellent; MobileNetV2 marginally better across all categories.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Adaptability: Custom CNN learned mango-specific patterns from scratch — domain-tailored learning.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Conclusion: MobileNetV2 outperforms Custom CNN in 7 of 8 criteria — transfer learning is the decisive advantage for agricultural AI.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12372"/>
            <a:ext cx="8838720" cy="535503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Compared two deep learning approaches for mango leaf disease classification: Custom CNN vs. MobileNetV2.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MobileNetV2 achieved 99.4% accuracy — outperforming Custom CNN (97%) across all evaluation metrics.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Transfer learning proves highly effective: pretrained features enable faster, more accurate learning.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Custom CNN also demonstrated impressive results at 97%, showing deep learning viability with domain-specific data only.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/>
                <a:cs typeface="Times New Roman"/>
              </a:rPr>
              <a:t>Practical Recommendation: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MobileNetV2 is the preferred choice for real-world deployment — higher accuracy, faster inference, lower battery usage.</a:t>
            </a:r>
          </a:p>
          <a:p>
            <a:pPr marL="800000" lvl="1" indent="-317500">
              <a:lnSpc>
                <a:spcPct val="11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◦"/>
            </a:pP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Extra 2.4% accuracy matters critically in field conditions where early disease detection saves entire harvests.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Important Observation: Errors in probability calculations can produce misleading confidence scores — rigorous validation is essential alongside model development.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Future Work: Integrate the model into a mobile application for direct farmer use; explore additional diseases and real-time field testing.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25286"/>
            <a:ext cx="8838720" cy="543123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[1] Sasithara et al., MobileNetV2 for Mango Leaf Disease Diagnosis. Premier Journal of Science, 2025.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[2] Mohsin et al., Dual-modality fusion for mango disease classification. Nature Scientific Reports, 2025.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[3] Auni &amp; Sugiharti, MobileNetV2 + DenseNet201 concatenation for mango leaf diseases. SJI, 2025.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[4] Alekhya et al., Mango Fruit Disease Detection: MobileNetV2 + LSTM. IEEE ICEECT, 2024.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[5] Sharma et al., Mango Leaf Disease Detection using Deep Learning. Published June 2022.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[6] Hossain et al., Deep learning for mango leaf disease — Vision Transformer perspective. Heliyon, 2024.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[7] Patel et al., Mango leaf diagnosis using TV Filter-based VMD. ScienceDirect, 2024.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[8] Saleem et al., Mango Leaf Disease using Fully Resolution ConvNet. CMC Journal, 2021.</a:t>
            </a:r>
          </a:p>
          <a:p>
            <a:pPr marL="139700" lvl="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</a:pPr>
            <a:endParaRPr lang="en-US" sz="19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latin typeface="Times New Roman"/>
                <a:cs typeface="Times New Roman"/>
              </a:rPr>
              <a:t>Thank You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Thank you for your attention.</a:t>
            </a:r>
          </a:p>
          <a:p>
            <a:pPr marL="457200" lvl="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/>
                <a:cs typeface="Times New Roman"/>
              </a:rPr>
              <a:t>Questions and feedback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34703</TotalTime>
  <Words>2117</Words>
  <Application>Microsoft Office PowerPoint</Application>
  <PresentationFormat>On-screen Show (4:3)</PresentationFormat>
  <Paragraphs>194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DEV MIGLANI</cp:lastModifiedBy>
  <cp:revision>2301</cp:revision>
  <dcterms:created xsi:type="dcterms:W3CDTF">2010-04-09T07:36:15Z</dcterms:created>
  <dcterms:modified xsi:type="dcterms:W3CDTF">2026-04-29T18:30:37Z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